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65" r:id="rId6"/>
    <p:sldId id="266" r:id="rId7"/>
    <p:sldId id="267" r:id="rId8"/>
    <p:sldId id="269" r:id="rId9"/>
    <p:sldId id="268" r:id="rId10"/>
    <p:sldId id="270" r:id="rId11"/>
    <p:sldId id="276" r:id="rId12"/>
    <p:sldId id="277" r:id="rId13"/>
    <p:sldId id="271" r:id="rId14"/>
    <p:sldId id="272" r:id="rId15"/>
    <p:sldId id="273" r:id="rId16"/>
    <p:sldId id="274" r:id="rId17"/>
    <p:sldId id="275" r:id="rId18"/>
    <p:sldId id="259" r:id="rId19"/>
    <p:sldId id="278" r:id="rId20"/>
    <p:sldId id="280" r:id="rId21"/>
    <p:sldId id="294" r:id="rId22"/>
    <p:sldId id="281" r:id="rId23"/>
    <p:sldId id="282" r:id="rId24"/>
    <p:sldId id="283" r:id="rId25"/>
    <p:sldId id="284" r:id="rId26"/>
    <p:sldId id="285" r:id="rId27"/>
    <p:sldId id="286" r:id="rId28"/>
    <p:sldId id="287" r:id="rId29"/>
    <p:sldId id="288" r:id="rId30"/>
    <p:sldId id="290" r:id="rId31"/>
    <p:sldId id="291" r:id="rId32"/>
    <p:sldId id="292" r:id="rId33"/>
    <p:sldId id="29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9913" y="484187"/>
            <a:ext cx="7772400" cy="1470025"/>
          </a:xfrm>
        </p:spPr>
        <p:txBody>
          <a:bodyPr/>
          <a:lstStyle/>
          <a:p>
            <a:r>
              <a:rPr lang="en-US" dirty="0"/>
              <a:t>Data Analysis Internship Project Report</a:t>
            </a:r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5CB4FD1-147F-565E-F28F-42CC3FC60C6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531688" y="3059668"/>
            <a:ext cx="8658973" cy="18928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Presenter: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Gavic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Bikku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George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Guide: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Ms. Ashvitha Dominic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Host Organization: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Tamil Nadu Smart and Advanced Manufacturing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400" dirty="0">
                <a:solidFill>
                  <a:schemeClr val="tx1"/>
                </a:solidFill>
                <a:latin typeface="Google Sans Text"/>
              </a:rPr>
              <a:t>                                   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Center</a:t>
            </a:r>
            <a:r>
              <a:rPr lang="en-US" altLang="en-US" sz="2400" dirty="0">
                <a:solidFill>
                  <a:schemeClr val="tx1"/>
                </a:solidFill>
                <a:latin typeface="Google Sans Text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(TANSAM) 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Date: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 June 9, 2026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Core Challenge:</a:t>
            </a:r>
            <a:endParaRPr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Transforming </a:t>
            </a:r>
            <a:r>
              <a:rPr lang="en-US" b="1" dirty="0"/>
              <a:t>Fragmented Data into Actionable Strategy</a:t>
            </a:r>
            <a:endParaRPr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C2E17-F1B2-B066-4046-690D7EF8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Primary Project Objectives: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EA0B7-2522-D678-581C-D13F8F6CD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IN" dirty="0"/>
              <a:t>1. </a:t>
            </a:r>
            <a:r>
              <a:rPr lang="en-US" b="1" dirty="0"/>
              <a:t>Programmatic Data Scrubbing:</a:t>
            </a:r>
            <a:r>
              <a:rPr lang="en-US" dirty="0"/>
              <a:t> Leverage Python to clean raw transaction fields and enforce uniform data types. </a:t>
            </a:r>
            <a:br>
              <a:rPr lang="en-US" dirty="0"/>
            </a:br>
            <a:r>
              <a:rPr lang="en-US" dirty="0"/>
              <a:t>2. </a:t>
            </a:r>
            <a:r>
              <a:rPr lang="en-US" b="1" dirty="0"/>
              <a:t>Relational Database Storage:</a:t>
            </a:r>
            <a:r>
              <a:rPr lang="en-US" dirty="0"/>
              <a:t> Establish a centralized, secure relational repository within PostgreSQL for fast querying and data integrity.</a:t>
            </a:r>
            <a:br>
              <a:rPr lang="en-US" dirty="0"/>
            </a:br>
            <a:r>
              <a:rPr lang="en-US" dirty="0"/>
              <a:t>3. </a:t>
            </a:r>
            <a:r>
              <a:rPr lang="en-US" b="1" dirty="0"/>
              <a:t>Interactive BI Deployment:</a:t>
            </a:r>
            <a:r>
              <a:rPr lang="en-US" dirty="0"/>
              <a:t> Construct an executive-facing Power BI dashboard to serve as the organization's single source of truth for corporate strategy.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06784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BBE30-E160-8B8F-A74F-5BE1D9AB2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Strategic Component Rationalization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AFA1E28-585A-4B1B-306A-C1B28B6560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7481468"/>
              </p:ext>
            </p:extLst>
          </p:nvPr>
        </p:nvGraphicFramePr>
        <p:xfrm>
          <a:off x="533401" y="1389539"/>
          <a:ext cx="8229600" cy="45212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143048962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7395209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6061807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Pipeline Tier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Technology Selected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Core Functional Purpose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7560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Tier 1: Data Engine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effectLst/>
                          <a:latin typeface="Google Sans Text"/>
                        </a:rPr>
                        <a:t>Python ,Pandas , 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Numbpy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, Seaborn, (in Google </a:t>
                      </a:r>
                      <a:r>
                        <a:rPr lang="en-IN" dirty="0" err="1">
                          <a:effectLst/>
                          <a:latin typeface="Google Sans Text"/>
                        </a:rPr>
                        <a:t>Colab</a:t>
                      </a:r>
                      <a:r>
                        <a:rPr lang="en-IN" dirty="0">
                          <a:effectLst/>
                          <a:latin typeface="Google Sans Text"/>
                        </a:rPr>
                        <a:t> and Anaconda Jupiter)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Statistical anomaly profiling, handling missing fields, and deterministic text alignment, statistical calculation and visualization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97223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>
                          <a:effectLst/>
                          <a:latin typeface="Google Sans Text"/>
                        </a:rPr>
                        <a:t>Tier 2: Storage</a:t>
                      </a:r>
                      <a:endParaRPr lang="en-IN" dirty="0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PostgreSQL Server &amp; pgAdmin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>
                          <a:effectLst/>
                          <a:latin typeface="Google Sans Text"/>
                        </a:rPr>
                        <a:t>Centralized tables, referential data integrity, and fast SQL analytical execution.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4110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effectLst/>
                          <a:latin typeface="Google Sans Text"/>
                        </a:rPr>
                        <a:t>Tier 3: Analytics</a:t>
                      </a:r>
                      <a:endParaRPr lang="en-IN">
                        <a:effectLst/>
                        <a:latin typeface="Google Sans Text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effectLst/>
                          <a:latin typeface="Google Sans Text"/>
                        </a:rPr>
                        <a:t>Power BI Desktop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>
                          <a:effectLst/>
                          <a:latin typeface="Google Sans Text"/>
                        </a:rPr>
                        <a:t>Live database semantic mapping, interactive cross-filtering, and executive delivery. </a:t>
                      </a: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4C7C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128610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810DE331-D487-32ED-6E29-7CC4F6AD1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7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"/>
              </a:rPr>
              <a:t>Strategic Component Rationalization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28635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79640-D06F-44F3-3037-85001356B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Tier 1: Data Engine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70613-B170-8440-A65C-0B5E149BBC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20800"/>
            <a:ext cx="8229600" cy="4525963"/>
          </a:xfrm>
        </p:spPr>
        <p:txBody>
          <a:bodyPr>
            <a:normAutofit fontScale="92500"/>
          </a:bodyPr>
          <a:lstStyle/>
          <a:p>
            <a:r>
              <a:rPr lang="en-IN" b="1" dirty="0"/>
              <a:t>Structural Inspections</a:t>
            </a:r>
            <a:r>
              <a:rPr lang="en-IN" dirty="0"/>
              <a:t>:</a:t>
            </a:r>
            <a:br>
              <a:rPr lang="en-IN" dirty="0"/>
            </a:br>
            <a:r>
              <a:rPr lang="en-US" dirty="0"/>
              <a:t>Executed .shape to determine overall matrix size, combined with </a:t>
            </a:r>
            <a:r>
              <a:rPr lang="en-US" b="1" dirty="0"/>
              <a:t>.head(), .tail(), and .info() </a:t>
            </a:r>
            <a:r>
              <a:rPr lang="en-US" dirty="0"/>
              <a:t>to profile column data types and structural integrity.</a:t>
            </a:r>
          </a:p>
          <a:p>
            <a:r>
              <a:rPr lang="en-IN" b="1" dirty="0"/>
              <a:t>Null Vector Remediation</a:t>
            </a:r>
            <a:r>
              <a:rPr lang="en-IN" dirty="0"/>
              <a:t>: </a:t>
            </a:r>
            <a:br>
              <a:rPr lang="en-IN" dirty="0"/>
            </a:br>
            <a:r>
              <a:rPr lang="en-US" dirty="0"/>
              <a:t>Deployed </a:t>
            </a:r>
            <a:r>
              <a:rPr lang="en-US" b="1" dirty="0"/>
              <a:t>.</a:t>
            </a:r>
            <a:r>
              <a:rPr lang="en-US" b="1" dirty="0" err="1"/>
              <a:t>isnull</a:t>
            </a:r>
            <a:r>
              <a:rPr lang="en-US" b="1" dirty="0"/>
              <a:t>().sum() </a:t>
            </a:r>
            <a:r>
              <a:rPr lang="en-US" dirty="0"/>
              <a:t>to pinpoint missing inputs. Resolved missing values via </a:t>
            </a:r>
            <a:r>
              <a:rPr lang="en-US" b="1" dirty="0"/>
              <a:t>.</a:t>
            </a:r>
            <a:r>
              <a:rPr lang="en-US" b="1" dirty="0" err="1"/>
              <a:t>fillna</a:t>
            </a:r>
            <a:r>
              <a:rPr lang="en-US" b="1" dirty="0"/>
              <a:t>() </a:t>
            </a:r>
            <a:r>
              <a:rPr lang="en-US" dirty="0"/>
              <a:t>using </a:t>
            </a:r>
            <a:r>
              <a:rPr lang="en-US" b="1" dirty="0"/>
              <a:t>.mean() </a:t>
            </a:r>
            <a:r>
              <a:rPr lang="en-US" dirty="0"/>
              <a:t>for standard distributions and </a:t>
            </a:r>
            <a:r>
              <a:rPr lang="en-US" b="1" dirty="0"/>
              <a:t>.median() </a:t>
            </a:r>
            <a:r>
              <a:rPr lang="en-US" dirty="0"/>
              <a:t>to prevent outlier distortion. 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2760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B409DF-4419-459D-C984-8D1CED6D9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BC8D6-B6C0-6A5F-2F95-223D4DD06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Tier 1: Data Engine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B0641-52CC-6C0F-C315-4F90C7AA50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Lexical Standardization</a:t>
            </a:r>
            <a:r>
              <a:rPr lang="en-IN" dirty="0"/>
              <a:t>:</a:t>
            </a:r>
            <a:br>
              <a:rPr lang="en-IN" dirty="0"/>
            </a:br>
            <a:r>
              <a:rPr lang="en-US" dirty="0"/>
              <a:t>Applied </a:t>
            </a:r>
            <a:r>
              <a:rPr lang="en-US" b="1" dirty="0"/>
              <a:t>.</a:t>
            </a:r>
            <a:r>
              <a:rPr lang="en-US" b="1" dirty="0" err="1"/>
              <a:t>str.lower</a:t>
            </a:r>
            <a:r>
              <a:rPr lang="en-US" b="1" dirty="0"/>
              <a:t>(), .</a:t>
            </a:r>
            <a:r>
              <a:rPr lang="en-US" b="1" dirty="0" err="1"/>
              <a:t>str.upper</a:t>
            </a:r>
            <a:r>
              <a:rPr lang="en-US" b="1" dirty="0"/>
              <a:t>(), and .</a:t>
            </a:r>
            <a:r>
              <a:rPr lang="en-US" b="1" dirty="0" err="1"/>
              <a:t>str.title</a:t>
            </a:r>
            <a:r>
              <a:rPr lang="en-US" b="1" dirty="0"/>
              <a:t>() </a:t>
            </a:r>
            <a:r>
              <a:rPr lang="en-US" dirty="0"/>
              <a:t>across text strings to eliminate categorical duplication caused by random casing (e.g., merging "clothing" and "Clothing")</a:t>
            </a:r>
          </a:p>
          <a:p>
            <a:r>
              <a:rPr lang="en-IN" b="1" dirty="0"/>
              <a:t>Deduplication Guardrails:</a:t>
            </a:r>
            <a:br>
              <a:rPr lang="en-IN" b="1" dirty="0"/>
            </a:br>
            <a:r>
              <a:rPr lang="en-US" dirty="0"/>
              <a:t>Applied </a:t>
            </a:r>
            <a:r>
              <a:rPr lang="en-US" b="1" dirty="0"/>
              <a:t>.</a:t>
            </a:r>
            <a:r>
              <a:rPr lang="en-US" b="1" dirty="0" err="1"/>
              <a:t>drop_duplicates</a:t>
            </a:r>
            <a:r>
              <a:rPr lang="en-US" b="1" dirty="0"/>
              <a:t>()</a:t>
            </a:r>
            <a:r>
              <a:rPr lang="en-US" dirty="0"/>
              <a:t> to remove inflationary records, ensuring that baseline transaction counts and customer metrics remained perfectly accurate.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57851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67C9E-298B-286E-62C5-6C5EF1B19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4000" b="1" dirty="0"/>
              <a:t>Production Code</a:t>
            </a:r>
            <a:r>
              <a:rPr lang="en-IN" sz="4000" b="1" dirty="0"/>
              <a:t> Snippet: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E4D8F-570E-5F6C-3699-AB867FDC7E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53067"/>
            <a:ext cx="8229600" cy="452596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endParaRPr lang="en-IN" sz="6400" dirty="0"/>
          </a:p>
          <a:p>
            <a:pPr marL="0" indent="0">
              <a:buNone/>
            </a:pPr>
            <a:r>
              <a:rPr lang="en-IN" sz="6400" dirty="0"/>
              <a:t>import pandas as pd</a:t>
            </a:r>
          </a:p>
          <a:p>
            <a:pPr marL="0" indent="0">
              <a:buNone/>
            </a:pPr>
            <a:r>
              <a:rPr lang="en-IN" sz="6400" dirty="0"/>
              <a:t>import </a:t>
            </a:r>
            <a:r>
              <a:rPr lang="en-IN" sz="6400" dirty="0" err="1"/>
              <a:t>numpy</a:t>
            </a:r>
            <a:r>
              <a:rPr lang="en-IN" sz="6400" dirty="0"/>
              <a:t> as np</a:t>
            </a:r>
          </a:p>
          <a:p>
            <a:pPr marL="0" indent="0">
              <a:buNone/>
            </a:pPr>
            <a:endParaRPr lang="en-IN" sz="6400" dirty="0"/>
          </a:p>
          <a:p>
            <a:pPr marL="0" indent="0">
              <a:buNone/>
            </a:pPr>
            <a:r>
              <a:rPr lang="en-IN" sz="6400" b="1" dirty="0"/>
              <a:t># Ingest raw transaction dataset as documented in "Customer Behaviour Analysis.pdf"</a:t>
            </a:r>
          </a:p>
          <a:p>
            <a:pPr marL="0" indent="0">
              <a:buNone/>
            </a:pPr>
            <a:r>
              <a:rPr lang="en-IN" sz="6400" dirty="0" err="1"/>
              <a:t>df</a:t>
            </a:r>
            <a:r>
              <a:rPr lang="en-IN" sz="6400" dirty="0"/>
              <a:t> = </a:t>
            </a:r>
            <a:r>
              <a:rPr lang="en-IN" sz="6400" dirty="0" err="1"/>
              <a:t>pd.read_csv</a:t>
            </a:r>
            <a:r>
              <a:rPr lang="en-IN" sz="6400" dirty="0"/>
              <a:t>('/content/sampledata2.csv’)</a:t>
            </a:r>
          </a:p>
          <a:p>
            <a:pPr marL="0" indent="0">
              <a:buNone/>
            </a:pPr>
            <a:endParaRPr lang="en-IN" sz="6400" dirty="0"/>
          </a:p>
          <a:p>
            <a:pPr marL="0" indent="0">
              <a:buNone/>
            </a:pPr>
            <a:r>
              <a:rPr lang="en-IN" sz="6400" b="1" dirty="0"/>
              <a:t># Audit structural dimensions and locate missing data</a:t>
            </a:r>
          </a:p>
          <a:p>
            <a:pPr marL="0" indent="0">
              <a:buNone/>
            </a:pPr>
            <a:r>
              <a:rPr lang="en-IN" sz="6400" dirty="0"/>
              <a:t>print(</a:t>
            </a:r>
            <a:r>
              <a:rPr lang="en-IN" sz="6400" dirty="0" err="1"/>
              <a:t>f"Initial</a:t>
            </a:r>
            <a:r>
              <a:rPr lang="en-IN" sz="6400" dirty="0"/>
              <a:t> Shape: {</a:t>
            </a:r>
            <a:r>
              <a:rPr lang="en-IN" sz="6400" dirty="0" err="1"/>
              <a:t>df.shape</a:t>
            </a:r>
            <a:r>
              <a:rPr lang="en-IN" sz="6400" dirty="0"/>
              <a:t>}")</a:t>
            </a:r>
          </a:p>
          <a:p>
            <a:pPr marL="0" indent="0">
              <a:buNone/>
            </a:pPr>
            <a:r>
              <a:rPr lang="en-IN" sz="6400" dirty="0"/>
              <a:t>print(</a:t>
            </a:r>
            <a:r>
              <a:rPr lang="en-IN" sz="6400" dirty="0" err="1"/>
              <a:t>df.isnull</a:t>
            </a:r>
            <a:r>
              <a:rPr lang="en-IN" sz="6400" dirty="0"/>
              <a:t>().sum())</a:t>
            </a:r>
          </a:p>
          <a:p>
            <a:pPr marL="0" indent="0">
              <a:buNone/>
            </a:pPr>
            <a:endParaRPr lang="en-IN" sz="6400" dirty="0"/>
          </a:p>
        </p:txBody>
      </p:sp>
    </p:spTree>
    <p:extLst>
      <p:ext uri="{BB962C8B-B14F-4D97-AF65-F5344CB8AC3E}">
        <p14:creationId xmlns:p14="http://schemas.microsoft.com/office/powerpoint/2010/main" val="2509428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15CDD-774D-A0F0-2213-937E21F1F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Production Code Snippet</a:t>
            </a:r>
            <a:r>
              <a:rPr lang="en-IN" dirty="0"/>
              <a:t>: </a:t>
            </a:r>
            <a:r>
              <a:rPr lang="en-US" b="1" dirty="0"/>
              <a:t>(continue..)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D549C-6CED-2155-59DB-B83571772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IN" b="1" dirty="0"/>
              <a:t># Text Standardization: Eradicate mismatched categorical naming conventions</a:t>
            </a:r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['Category'] = </a:t>
            </a:r>
            <a:r>
              <a:rPr lang="en-IN" dirty="0" err="1"/>
              <a:t>df</a:t>
            </a:r>
            <a:r>
              <a:rPr lang="en-IN" dirty="0"/>
              <a:t>['Category'].</a:t>
            </a:r>
            <a:r>
              <a:rPr lang="en-IN" dirty="0" err="1"/>
              <a:t>str.title</a:t>
            </a:r>
            <a:r>
              <a:rPr lang="en-IN" dirty="0"/>
              <a:t>()</a:t>
            </a:r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['Item Purchased'] = </a:t>
            </a:r>
            <a:r>
              <a:rPr lang="en-IN" dirty="0" err="1"/>
              <a:t>df</a:t>
            </a:r>
            <a:r>
              <a:rPr lang="en-IN" dirty="0"/>
              <a:t>['Item Purchased'].</a:t>
            </a:r>
            <a:r>
              <a:rPr lang="en-IN" dirty="0" err="1"/>
              <a:t>str.title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print(</a:t>
            </a:r>
            <a:r>
              <a:rPr lang="en-IN" dirty="0" err="1"/>
              <a:t>f"Cleaned</a:t>
            </a:r>
            <a:r>
              <a:rPr lang="en-IN" dirty="0"/>
              <a:t> Post-Processing Shape: {</a:t>
            </a:r>
            <a:r>
              <a:rPr lang="en-IN" dirty="0" err="1"/>
              <a:t>df.shape</a:t>
            </a:r>
            <a:r>
              <a:rPr lang="en-IN" dirty="0"/>
              <a:t>}“)</a:t>
            </a:r>
          </a:p>
          <a:p>
            <a:pPr marL="0" indent="0">
              <a:buNone/>
            </a:pPr>
            <a:r>
              <a:rPr lang="en-IN" dirty="0" err="1"/>
              <a:t>df.head</a:t>
            </a:r>
            <a:r>
              <a:rPr lang="en-IN" dirty="0"/>
              <a:t>()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52199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0F5B4-72E0-FF40-A86A-E4D8BAECB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Production Code Snippet</a:t>
            </a:r>
            <a:r>
              <a:rPr lang="en-IN" dirty="0"/>
              <a:t>: </a:t>
            </a:r>
            <a:r>
              <a:rPr lang="en-US" b="1" dirty="0"/>
              <a:t>(continue..)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877E9-9385-FFFE-38DD-A4C1ABC508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IN" sz="3000" dirty="0"/>
              <a:t># </a:t>
            </a:r>
            <a:r>
              <a:rPr lang="en-IN" sz="3000" b="1" dirty="0"/>
              <a:t>Clean specific transactional blocks by mapping or removing unnecessary tracking code</a:t>
            </a:r>
          </a:p>
          <a:p>
            <a:pPr marL="0" indent="0">
              <a:buNone/>
            </a:pPr>
            <a:r>
              <a:rPr lang="en-IN" sz="3000" dirty="0"/>
              <a:t>if '</a:t>
            </a:r>
            <a:r>
              <a:rPr lang="en-IN" sz="3000" dirty="0" err="1"/>
              <a:t>promo_code_used</a:t>
            </a:r>
            <a:r>
              <a:rPr lang="en-IN" sz="3000" dirty="0"/>
              <a:t>' in </a:t>
            </a:r>
            <a:r>
              <a:rPr lang="en-IN" sz="3000" dirty="0" err="1"/>
              <a:t>df.columns</a:t>
            </a:r>
            <a:r>
              <a:rPr lang="en-IN" sz="3000" dirty="0"/>
              <a:t>:</a:t>
            </a:r>
          </a:p>
          <a:p>
            <a:pPr marL="0" indent="0">
              <a:buNone/>
            </a:pPr>
            <a:r>
              <a:rPr lang="en-IN" sz="3000" dirty="0"/>
              <a:t>    </a:t>
            </a:r>
            <a:r>
              <a:rPr lang="en-IN" sz="3000" dirty="0" err="1"/>
              <a:t>df.drop</a:t>
            </a:r>
            <a:r>
              <a:rPr lang="en-IN" sz="3000" dirty="0"/>
              <a:t>(columns=['</a:t>
            </a:r>
            <a:r>
              <a:rPr lang="en-IN" sz="3000" dirty="0" err="1"/>
              <a:t>promo_code_used</a:t>
            </a:r>
            <a:r>
              <a:rPr lang="en-IN" sz="3000" dirty="0"/>
              <a:t>'], </a:t>
            </a:r>
            <a:r>
              <a:rPr lang="en-IN" sz="3000" dirty="0" err="1"/>
              <a:t>inplace</a:t>
            </a:r>
            <a:r>
              <a:rPr lang="en-IN" sz="3000" dirty="0"/>
              <a:t>=True)</a:t>
            </a:r>
          </a:p>
          <a:p>
            <a:pPr marL="0" indent="0">
              <a:buNone/>
            </a:pPr>
            <a:r>
              <a:rPr lang="en-IN" sz="3000" b="1" dirty="0"/>
              <a:t># Deduplicate to protect baseline metrics</a:t>
            </a:r>
          </a:p>
          <a:p>
            <a:pPr marL="0" indent="0">
              <a:buNone/>
            </a:pPr>
            <a:r>
              <a:rPr lang="en-IN" sz="3000" dirty="0" err="1"/>
              <a:t>df.drop_duplicates</a:t>
            </a:r>
            <a:r>
              <a:rPr lang="en-IN" sz="3000" dirty="0"/>
              <a:t>(</a:t>
            </a:r>
            <a:r>
              <a:rPr lang="en-IN" sz="3000" dirty="0" err="1"/>
              <a:t>inplace</a:t>
            </a:r>
            <a:r>
              <a:rPr lang="en-IN" sz="3000" dirty="0"/>
              <a:t>=True)</a:t>
            </a:r>
          </a:p>
          <a:p>
            <a:pPr marL="0" indent="0">
              <a:buNone/>
            </a:pPr>
            <a:endParaRPr lang="en-IN" sz="3000" dirty="0"/>
          </a:p>
          <a:p>
            <a:pPr marL="0" indent="0">
              <a:buNone/>
            </a:pPr>
            <a:endParaRPr lang="en-IN" sz="3000" dirty="0"/>
          </a:p>
        </p:txBody>
      </p:sp>
    </p:spTree>
    <p:extLst>
      <p:ext uri="{BB962C8B-B14F-4D97-AF65-F5344CB8AC3E}">
        <p14:creationId xmlns:p14="http://schemas.microsoft.com/office/powerpoint/2010/main" val="1861991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AEA8-9784-79BF-856A-145619ACA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Production Code Snippet</a:t>
            </a:r>
            <a:r>
              <a:rPr lang="en-IN" dirty="0"/>
              <a:t>: </a:t>
            </a:r>
            <a:r>
              <a:rPr lang="en-US" b="1" dirty="0"/>
              <a:t>(continue..)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447266-5674-C879-B3E8-D99FE2428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# Demographically slice consumer base using quantile-based categorization</a:t>
            </a:r>
          </a:p>
          <a:p>
            <a:pPr marL="0" indent="0">
              <a:buNone/>
            </a:pPr>
            <a:r>
              <a:rPr lang="en-IN" dirty="0" err="1"/>
              <a:t>df</a:t>
            </a:r>
            <a:r>
              <a:rPr lang="en-IN" dirty="0"/>
              <a:t>['</a:t>
            </a:r>
            <a:r>
              <a:rPr lang="en-IN" dirty="0" err="1"/>
              <a:t>age_group</a:t>
            </a:r>
            <a:r>
              <a:rPr lang="en-IN" dirty="0"/>
              <a:t>'] = </a:t>
            </a:r>
            <a:r>
              <a:rPr lang="en-IN" dirty="0" err="1"/>
              <a:t>pd.qcut</a:t>
            </a:r>
            <a:r>
              <a:rPr lang="en-IN" dirty="0"/>
              <a:t>(</a:t>
            </a:r>
            <a:r>
              <a:rPr lang="en-IN" dirty="0" err="1"/>
              <a:t>df</a:t>
            </a:r>
            <a:r>
              <a:rPr lang="en-IN" dirty="0"/>
              <a:t>['Age'], q=4, labels=['Young Adult', 'Middle Aged', 'Adult', 'Senior'])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03050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3ADBA-E8F2-C6A8-98A4-619C3FE653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Production Code Snippet</a:t>
            </a:r>
            <a:r>
              <a:rPr lang="en-IN" dirty="0"/>
              <a:t>: </a:t>
            </a:r>
            <a:r>
              <a:rPr lang="en-US" b="1" dirty="0"/>
              <a:t>(continue..)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5150A2-79B6-3A45-2784-CAEDEEEB63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8934" y="1303337"/>
            <a:ext cx="7780866" cy="3725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537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D0BA5-9B2A-2E94-32E1-A865CEE81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31016-3CED-DDED-B20C-E435A4ED48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Production Code Snippet</a:t>
            </a:r>
            <a:r>
              <a:rPr lang="en-IN" dirty="0"/>
              <a:t>: </a:t>
            </a:r>
            <a:r>
              <a:rPr lang="en-US" b="1" dirty="0"/>
              <a:t>(continue..)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43A8AAD-A248-E5B8-4F3E-7605D09113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3467" y="1303337"/>
            <a:ext cx="7907866" cy="4225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35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500A-DA7A-3861-D75E-50D7E7A70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Google Sans Text"/>
              </a:rPr>
              <a:t>Tier 2: Storage (</a:t>
            </a:r>
            <a:r>
              <a:rPr lang="en-IN" dirty="0"/>
              <a:t>Relational Query Execution (SQL)</a:t>
            </a:r>
            <a:r>
              <a:rPr lang="en-IN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4D8B34-00ED-54EC-4BF9-470FCAEA0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Query Logic &amp; Rationale</a:t>
            </a:r>
          </a:p>
          <a:p>
            <a:r>
              <a:rPr lang="en-US" dirty="0"/>
              <a:t>To discover exactly which items generate the </a:t>
            </a:r>
            <a:r>
              <a:rPr lang="en-US" b="1" dirty="0"/>
              <a:t>highest customer demand </a:t>
            </a:r>
            <a:r>
              <a:rPr lang="en-US" dirty="0"/>
              <a:t>across specific categories, we run a high-performance SQL query. This query utilizes an internal Window Function (ROW_NUMBER() OVER(PARTITION BY...)) to dynamically count and rank items by </a:t>
            </a:r>
            <a:r>
              <a:rPr lang="en-US" b="1" dirty="0"/>
              <a:t>purchase popularity </a:t>
            </a:r>
            <a:r>
              <a:rPr lang="en-US" dirty="0"/>
              <a:t>within their parent business categories.</a:t>
            </a:r>
          </a:p>
        </p:txBody>
      </p:sp>
    </p:spTree>
    <p:extLst>
      <p:ext uri="{BB962C8B-B14F-4D97-AF65-F5344CB8AC3E}">
        <p14:creationId xmlns:p14="http://schemas.microsoft.com/office/powerpoint/2010/main" val="25764494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D9C54-B232-700E-8DC1-02B4C3526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1994F-5C7A-E9C3-5CCD-B3B95B3FE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>
                <a:latin typeface="Google Sans Text"/>
              </a:rPr>
              <a:t>Tier 2: Storage (</a:t>
            </a:r>
            <a:r>
              <a:rPr lang="en-IN" dirty="0"/>
              <a:t>Relational Query Execution (SQL)</a:t>
            </a:r>
            <a:r>
              <a:rPr lang="en-IN" b="1" dirty="0"/>
              <a:t>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E730C-C502-86EB-EF84-34AC03814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Query Logic &amp; Rationale</a:t>
            </a:r>
          </a:p>
          <a:p>
            <a:r>
              <a:rPr lang="en-US" dirty="0"/>
              <a:t>To discover exactly which items generate the </a:t>
            </a:r>
            <a:r>
              <a:rPr lang="en-US" b="1" dirty="0"/>
              <a:t>highest customer demand </a:t>
            </a:r>
            <a:r>
              <a:rPr lang="en-US" dirty="0"/>
              <a:t>across specific categories, we run a high-performance SQL query. This query utilizes an internal Window Function (ROW_NUMBER() OVER(PARTITION BY...)) to dynamically count and rank items by </a:t>
            </a:r>
            <a:r>
              <a:rPr lang="en-US" b="1" dirty="0"/>
              <a:t>purchase popularity </a:t>
            </a:r>
            <a:r>
              <a:rPr lang="en-US" dirty="0"/>
              <a:t>within their parent business categories.</a:t>
            </a:r>
          </a:p>
        </p:txBody>
      </p:sp>
    </p:spTree>
    <p:extLst>
      <p:ext uri="{BB962C8B-B14F-4D97-AF65-F5344CB8AC3E}">
        <p14:creationId xmlns:p14="http://schemas.microsoft.com/office/powerpoint/2010/main" val="679680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54AD0-A739-2BD8-E071-38D1F09B4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Code</a:t>
            </a:r>
            <a:r>
              <a:rPr lang="en-IN" b="1" dirty="0"/>
              <a:t> Snippet: (continue)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FFDC2-F1B9-286F-287D-D146CAA106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WITH</a:t>
            </a:r>
            <a:r>
              <a:rPr lang="en-US" dirty="0"/>
              <a:t> </a:t>
            </a:r>
            <a:r>
              <a:rPr lang="en-US" dirty="0" err="1"/>
              <a:t>ProductCounts</a:t>
            </a:r>
            <a:r>
              <a:rPr lang="en-US" dirty="0"/>
              <a:t> AS (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highlight>
                  <a:srgbClr val="FFFF00"/>
                </a:highlight>
              </a:rPr>
              <a:t>SELECT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        Category,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Item_Purchased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>
                <a:highlight>
                  <a:srgbClr val="FFFF00"/>
                </a:highlight>
              </a:rPr>
              <a:t>COUNT(*) </a:t>
            </a:r>
            <a:r>
              <a:rPr lang="en-US" dirty="0"/>
              <a:t>AS </a:t>
            </a:r>
            <a:r>
              <a:rPr lang="en-US" dirty="0" err="1"/>
              <a:t>Purchase_Count</a:t>
            </a:r>
            <a:r>
              <a:rPr lang="en-US" dirty="0"/>
              <a:t>,</a:t>
            </a:r>
          </a:p>
          <a:p>
            <a:pPr marL="0" indent="0">
              <a:buNone/>
            </a:pPr>
            <a:r>
              <a:rPr lang="en-US" dirty="0"/>
              <a:t>        ROW_NUMBER() OVER (</a:t>
            </a:r>
          </a:p>
          <a:p>
            <a:pPr marL="0" indent="0">
              <a:buNone/>
            </a:pPr>
            <a:r>
              <a:rPr lang="en-US" dirty="0"/>
              <a:t>            PARTITION BY Category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>
                <a:highlight>
                  <a:srgbClr val="FFFF00"/>
                </a:highlight>
              </a:rPr>
              <a:t>ORDER BY COUNT(*) DESC</a:t>
            </a:r>
          </a:p>
          <a:p>
            <a:pPr marL="0" indent="0">
              <a:buNone/>
            </a:pPr>
            <a:r>
              <a:rPr lang="en-US" dirty="0"/>
              <a:t>        ) AS </a:t>
            </a:r>
            <a:r>
              <a:rPr lang="en-US" dirty="0" err="1"/>
              <a:t>Row_Num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07510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13673-D26D-E432-0478-8A832097C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8CC7A-304F-7CC9-7D98-A860DA351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SQL Code</a:t>
            </a:r>
            <a:r>
              <a:rPr lang="en-IN" b="1" dirty="0"/>
              <a:t> Snippet: (continue)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94702-8CF7-ABAB-77BF-494946F4C2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98316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br>
              <a:rPr lang="en-US" dirty="0"/>
            </a:br>
            <a:r>
              <a:rPr lang="en-US" dirty="0"/>
              <a:t> FROM </a:t>
            </a:r>
          </a:p>
          <a:p>
            <a:pPr marL="0" indent="0">
              <a:buNone/>
            </a:pPr>
            <a:r>
              <a:rPr lang="en-US" dirty="0"/>
              <a:t>        customers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>
                <a:highlight>
                  <a:srgbClr val="FFFF00"/>
                </a:highlight>
              </a:rPr>
              <a:t>GROUP BY </a:t>
            </a:r>
          </a:p>
          <a:p>
            <a:pPr marL="0" indent="0">
              <a:buNone/>
            </a:pPr>
            <a:r>
              <a:rPr lang="en-US" dirty="0"/>
              <a:t>        Category,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Item_Purchased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SELECT </a:t>
            </a:r>
          </a:p>
          <a:p>
            <a:pPr marL="0" indent="0">
              <a:buNone/>
            </a:pPr>
            <a:r>
              <a:rPr lang="en-US" dirty="0"/>
              <a:t>    Category,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Item_Purchased</a:t>
            </a:r>
            <a:r>
              <a:rPr lang="en-US" dirty="0"/>
              <a:t>,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Purchase_Count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FROM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ProductCounts</a:t>
            </a:r>
            <a:endParaRPr lang="en-US" dirty="0"/>
          </a:p>
          <a:p>
            <a:pPr marL="0" indent="0">
              <a:buNone/>
            </a:pPr>
            <a:r>
              <a:rPr lang="en-US" dirty="0">
                <a:highlight>
                  <a:srgbClr val="FFFF00"/>
                </a:highlight>
              </a:rPr>
              <a:t>WHERE </a:t>
            </a:r>
          </a:p>
          <a:p>
            <a:pPr marL="0" indent="0">
              <a:buNone/>
            </a:pPr>
            <a:r>
              <a:rPr lang="en-US" dirty="0"/>
              <a:t>    </a:t>
            </a:r>
            <a:r>
              <a:rPr lang="en-US" dirty="0" err="1"/>
              <a:t>Row_Num</a:t>
            </a:r>
            <a:r>
              <a:rPr lang="en-US" dirty="0"/>
              <a:t> &lt;= 3;   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8745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3E0DD-ACA0-008E-2014-B9AAE29E9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05"/>
            <a:ext cx="8229600" cy="1143000"/>
          </a:xfrm>
        </p:spPr>
        <p:txBody>
          <a:bodyPr/>
          <a:lstStyle/>
          <a:p>
            <a:r>
              <a:rPr lang="en-US" b="1" dirty="0"/>
              <a:t>SQL Code</a:t>
            </a:r>
            <a:r>
              <a:rPr lang="en-IN" b="1" dirty="0"/>
              <a:t> Snippet: (continue)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7BEE72D-951B-04C1-EC65-68A9490595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2733" y="948267"/>
            <a:ext cx="7890934" cy="453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5947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lang="en-IN" b="1" dirty="0"/>
              <a:t>Tier 3: Power BI Desktop</a:t>
            </a:r>
            <a:endParaRPr b="1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B14497-12DF-C682-9817-C2B141E37B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7504" y="1023938"/>
            <a:ext cx="7668991" cy="4525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093D-A82F-B825-6418-6AD9F50D1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Visualization using Seaborn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F08F1-6673-37E2-F92B-8D802BCA2B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1533"/>
            <a:ext cx="8229600" cy="4525963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Univariate Distribution Insights:</a:t>
            </a:r>
            <a:r>
              <a:rPr lang="en-US" dirty="0"/>
              <a:t> Utilizing high-density Histograms (</a:t>
            </a:r>
            <a:r>
              <a:rPr lang="en-US" dirty="0" err="1"/>
              <a:t>sns.boxplot</a:t>
            </a:r>
            <a:r>
              <a:rPr lang="en-US" dirty="0"/>
              <a:t>) and data spread plots to evaluate underlying skewness and volume counts</a:t>
            </a:r>
          </a:p>
          <a:p>
            <a:r>
              <a:rPr lang="en-IN" b="1" dirty="0"/>
              <a:t>Multivariate Interaction </a:t>
            </a:r>
            <a:r>
              <a:rPr lang="en-IN" b="1" dirty="0" err="1"/>
              <a:t>Modeling</a:t>
            </a:r>
            <a:r>
              <a:rPr lang="en-IN" b="1" dirty="0"/>
              <a:t>:</a:t>
            </a:r>
            <a:r>
              <a:rPr lang="en-IN" dirty="0"/>
              <a:t> Applying comprehensive correlation Heatmaps (</a:t>
            </a:r>
            <a:r>
              <a:rPr lang="en-IN" dirty="0" err="1"/>
              <a:t>sns.heatmap</a:t>
            </a:r>
            <a:r>
              <a:rPr lang="en-IN" dirty="0"/>
              <a:t>) and relational Pair Plots (</a:t>
            </a:r>
            <a:r>
              <a:rPr lang="en-IN" dirty="0" err="1"/>
              <a:t>sns.pairplot</a:t>
            </a:r>
            <a:r>
              <a:rPr lang="en-IN" dirty="0"/>
              <a:t>) to track multi-variable relationships across the entire system.</a:t>
            </a:r>
          </a:p>
        </p:txBody>
      </p:sp>
    </p:spTree>
    <p:extLst>
      <p:ext uri="{BB962C8B-B14F-4D97-AF65-F5344CB8AC3E}">
        <p14:creationId xmlns:p14="http://schemas.microsoft.com/office/powerpoint/2010/main" val="1153859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73227-9237-9930-8067-D5EC71DFA1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Ex. Of </a:t>
            </a:r>
            <a:r>
              <a:rPr lang="en-IN" dirty="0" err="1"/>
              <a:t>Boxplot,Histplot</a:t>
            </a:r>
            <a:r>
              <a:rPr lang="en-IN" dirty="0"/>
              <a:t>, </a:t>
            </a:r>
            <a:r>
              <a:rPr lang="en-IN" dirty="0" err="1"/>
              <a:t>Pairplot</a:t>
            </a:r>
            <a:r>
              <a:rPr lang="en-IN" dirty="0"/>
              <a:t>, Heatmap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A67C294-12F8-0607-5590-29CC537693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9244" y="1417638"/>
            <a:ext cx="6045511" cy="4419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05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78351-DDEB-EA2C-D529-910301F82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012DF9-E41B-DC4E-ED26-A7F4B0641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Ex. Of </a:t>
            </a:r>
            <a:r>
              <a:rPr lang="en-IN" dirty="0" err="1"/>
              <a:t>Hisplot</a:t>
            </a:r>
            <a:r>
              <a:rPr lang="en-IN" dirty="0"/>
              <a:t>, </a:t>
            </a:r>
            <a:r>
              <a:rPr lang="en-IN" dirty="0" err="1"/>
              <a:t>Pairplot</a:t>
            </a:r>
            <a:r>
              <a:rPr lang="en-IN" dirty="0"/>
              <a:t>, Heatmap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37915DD-3F20-D64D-AC05-E929B39D9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63550" y="1417638"/>
            <a:ext cx="5816899" cy="434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60523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965DC-690F-ACAB-9A6F-982CC1208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38A717-CD4C-CD64-23BC-DFA81C54B4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400" y="1600200"/>
            <a:ext cx="7611533" cy="4525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504E29A-E481-1878-C317-0F80C62553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4492" y="382588"/>
            <a:ext cx="3968750" cy="927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2613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10932FA-25EB-F11A-3D33-E614C7FE1C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333" y="567267"/>
            <a:ext cx="8305800" cy="4741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89471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98DC4-DA34-6AC9-AFE0-618A4940FA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Analytical Findings: Categories &amp; Demographics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BE5E3D-34C9-9B49-7920-7B2F08056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Observation 1:</a:t>
            </a:r>
            <a:r>
              <a:rPr lang="fr-FR" sz="2000" dirty="0"/>
              <a:t>  </a:t>
            </a:r>
            <a:r>
              <a:rPr lang="fr-FR" sz="2000" b="1" dirty="0" err="1"/>
              <a:t>Core</a:t>
            </a:r>
            <a:r>
              <a:rPr lang="fr-FR" sz="2000" b="1" dirty="0"/>
              <a:t> Revenue Engines</a:t>
            </a:r>
            <a:br>
              <a:rPr lang="fr-FR" sz="2000" b="1" dirty="0"/>
            </a:br>
            <a:br>
              <a:rPr lang="fr-FR" sz="2000" b="1" dirty="0"/>
            </a:br>
            <a:r>
              <a:rPr lang="en-US" sz="2000" b="1" dirty="0"/>
              <a:t>Insight:</a:t>
            </a:r>
            <a:r>
              <a:rPr lang="en-US" sz="2000" dirty="0"/>
              <a:t> Sales data proves that the </a:t>
            </a:r>
            <a:r>
              <a:rPr lang="en-US" sz="2000" b="1" dirty="0"/>
              <a:t>Clothing</a:t>
            </a:r>
            <a:r>
              <a:rPr lang="en-US" sz="2000" dirty="0"/>
              <a:t> segment stands as the company's clear primary revenue driver.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Secondary Drivers:</a:t>
            </a:r>
            <a:r>
              <a:rPr lang="en-US" sz="2000" dirty="0"/>
              <a:t> </a:t>
            </a:r>
            <a:r>
              <a:rPr lang="en-US" sz="2000" b="1" dirty="0"/>
              <a:t>Accessories</a:t>
            </a:r>
            <a:r>
              <a:rPr lang="en-US" sz="2000" dirty="0"/>
              <a:t> hold a strong second place, while </a:t>
            </a:r>
            <a:r>
              <a:rPr lang="en-US" sz="2000" b="1" dirty="0"/>
              <a:t>Footwear</a:t>
            </a:r>
            <a:r>
              <a:rPr lang="en-US" sz="2000" dirty="0"/>
              <a:t> and </a:t>
            </a:r>
            <a:r>
              <a:rPr lang="en-US" sz="2000" b="1" dirty="0"/>
              <a:t>Outerwear</a:t>
            </a:r>
            <a:r>
              <a:rPr lang="en-US" sz="2000" dirty="0"/>
              <a:t> account for a significantly lower share of revenue.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Business Implication:</a:t>
            </a:r>
            <a:r>
              <a:rPr lang="en-US" sz="2000" dirty="0"/>
              <a:t> Inventory budgets, store layout space, and product variety should prioritize Clothing and Accessories to maximize overall margins.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434642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4E94A6-8DF0-3C62-AE63-891B3D273D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743A9-D7C6-2595-540E-79E97B4A3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Analytical Findings: Categories &amp; Demographics (continue..)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D587B-9648-09E6-56DA-74BC2AA5AC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Observation 2:</a:t>
            </a:r>
            <a:r>
              <a:rPr lang="fr-FR" sz="2000" dirty="0"/>
              <a:t>  </a:t>
            </a:r>
            <a:r>
              <a:rPr lang="en-IN" sz="2000" b="1" dirty="0"/>
              <a:t>Demographic Purchasing Power</a:t>
            </a:r>
            <a:br>
              <a:rPr lang="fr-FR" sz="2000" b="1" dirty="0"/>
            </a:br>
            <a:br>
              <a:rPr lang="fr-FR" sz="2000" b="1" dirty="0"/>
            </a:br>
            <a:r>
              <a:rPr lang="en-US" sz="2000" b="1" dirty="0"/>
              <a:t>Insight:</a:t>
            </a:r>
            <a:r>
              <a:rPr lang="en-US" sz="2000" dirty="0"/>
              <a:t> Age distribution analysis shows that the </a:t>
            </a:r>
            <a:r>
              <a:rPr lang="en-US" sz="2000" b="1" dirty="0"/>
              <a:t>Young Adult</a:t>
            </a:r>
            <a:r>
              <a:rPr lang="en-US" sz="2000" dirty="0"/>
              <a:t> group contributes the highest overall purchase spending.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Lowest Performers:</a:t>
            </a:r>
            <a:r>
              <a:rPr lang="en-US" sz="2000" dirty="0"/>
              <a:t> The </a:t>
            </a:r>
            <a:r>
              <a:rPr lang="en-US" sz="2000" b="1" dirty="0"/>
              <a:t>Senior</a:t>
            </a:r>
            <a:r>
              <a:rPr lang="en-US" sz="2000" dirty="0"/>
              <a:t> demographic represents the smallest portion of active spending.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Business Implication:</a:t>
            </a:r>
            <a:r>
              <a:rPr lang="en-US" sz="2000" dirty="0"/>
              <a:t> Brand marketing campaigns and digital advertisements should be heavily tailored to match the unique styles and buying preferences of the high-value Young Adult demographic. 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7583001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79EFA0-2DA0-B676-7823-F8CB64152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BD7FE-070A-36C7-05F6-752AD9022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Analytical Findings: Subscriptions &amp;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136700-675D-D0DB-879D-776FB368D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Observation 1:</a:t>
            </a:r>
            <a:r>
              <a:rPr lang="fr-FR" sz="2000" dirty="0"/>
              <a:t>  </a:t>
            </a:r>
            <a:r>
              <a:rPr lang="en-IN" sz="2000" b="1" dirty="0"/>
              <a:t>The Subscription Deficit</a:t>
            </a:r>
            <a:br>
              <a:rPr lang="fr-FR" sz="2000" b="1" dirty="0"/>
            </a:br>
            <a:br>
              <a:rPr lang="fr-FR" sz="2000" b="1" dirty="0"/>
            </a:br>
            <a:r>
              <a:rPr lang="en-US" sz="2000" b="1" dirty="0"/>
              <a:t>Insight:</a:t>
            </a:r>
            <a:r>
              <a:rPr lang="en-US" sz="2000" dirty="0"/>
              <a:t> Customer classification metrics show a major structural imbalance: </a:t>
            </a:r>
            <a:r>
              <a:rPr lang="en-US" sz="2000" b="1" dirty="0"/>
              <a:t>the vast majority of active buyers are Non-Subscribers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sz="2000" dirty="0"/>
            </a:br>
            <a:r>
              <a:rPr lang="en-IN" sz="2000" b="1" dirty="0"/>
              <a:t>The Minority Segment:</a:t>
            </a:r>
            <a:r>
              <a:rPr lang="en-IN" sz="2000" dirty="0"/>
              <a:t> </a:t>
            </a:r>
            <a:r>
              <a:rPr lang="en-US" sz="2000" dirty="0"/>
              <a:t>Registered subscribers represent only a small fraction of our baseline customer map.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Business Implication:</a:t>
            </a:r>
            <a:r>
              <a:rPr lang="en-US" sz="2000" dirty="0"/>
              <a:t> The current business baseline depends heavily on one-off transactions. This represents a massive opportunity to build loyalty programs that secure recurring revenue.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35810288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4F71D-FFBB-257E-D4F8-0DC6EA7FB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081CD-D587-A19E-512C-770FFE1C9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Analytical Findings: Subscriptions &amp; Logistics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BD2D1-8E5A-92CB-8C30-5E8EFF537B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Observation 1:</a:t>
            </a:r>
            <a:r>
              <a:rPr lang="fr-FR" sz="2000" dirty="0"/>
              <a:t>  </a:t>
            </a:r>
            <a:r>
              <a:rPr lang="en-IN" sz="2000" b="1" dirty="0"/>
              <a:t>The Subscription Deficit</a:t>
            </a:r>
            <a:br>
              <a:rPr lang="fr-FR" sz="2000" b="1" dirty="0"/>
            </a:br>
            <a:br>
              <a:rPr lang="fr-FR" sz="2000" b="1" dirty="0"/>
            </a:br>
            <a:r>
              <a:rPr lang="en-US" sz="2000" b="1" dirty="0"/>
              <a:t>Insight:</a:t>
            </a:r>
            <a:r>
              <a:rPr lang="en-US" sz="2000" dirty="0"/>
              <a:t> Customer classification metrics show a major structural imbalance: </a:t>
            </a:r>
            <a:r>
              <a:rPr lang="en-US" sz="2000" b="1" dirty="0"/>
              <a:t>the vast majority of active buyers are Non-Subscribers</a:t>
            </a:r>
            <a:r>
              <a:rPr lang="en-US" sz="2000" dirty="0"/>
              <a:t>.</a:t>
            </a:r>
            <a:br>
              <a:rPr lang="en-US" sz="2000" dirty="0"/>
            </a:br>
            <a:br>
              <a:rPr lang="en-US" sz="2000" dirty="0"/>
            </a:br>
            <a:r>
              <a:rPr lang="en-IN" sz="2000" b="1" dirty="0"/>
              <a:t>The Minority Segment:</a:t>
            </a:r>
            <a:r>
              <a:rPr lang="en-IN" sz="2000" dirty="0"/>
              <a:t> </a:t>
            </a:r>
            <a:r>
              <a:rPr lang="en-US" sz="2000" dirty="0"/>
              <a:t>Registered subscribers represent only a small fraction of our baseline customer map. 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Business Implication:</a:t>
            </a:r>
            <a:r>
              <a:rPr lang="en-US" sz="2000" dirty="0"/>
              <a:t> The current business baseline depends heavily on one-off transactions. This represents a massive opportunity to build loyalty programs that secure recurring revenue.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42005449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29EC4-4E4D-6B94-77F4-14F4D26B46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D5FB4A-7E7C-7867-B356-C4213B702D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Analytical Findings: Subscriptions &amp; Logistics (continue..)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4414B-147C-1781-5B27-5C96F4EF0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000" b="1" dirty="0"/>
              <a:t>Observation 2:</a:t>
            </a:r>
            <a:r>
              <a:rPr lang="fr-FR" sz="2000" dirty="0"/>
              <a:t>  </a:t>
            </a:r>
            <a:r>
              <a:rPr lang="en-IN" sz="2000" b="1" dirty="0"/>
              <a:t>Purchase Frequency Impact</a:t>
            </a:r>
            <a:br>
              <a:rPr lang="fr-FR" sz="2000" b="1" dirty="0"/>
            </a:br>
            <a:br>
              <a:rPr lang="fr-FR" sz="2000" b="1" dirty="0"/>
            </a:br>
            <a:r>
              <a:rPr lang="en-US" sz="2000" b="1" dirty="0"/>
              <a:t>Insight:</a:t>
            </a:r>
            <a:r>
              <a:rPr lang="en-US" sz="2000" dirty="0"/>
              <a:t> Timeline tracking shows that buyers ordering on an </a:t>
            </a:r>
            <a:r>
              <a:rPr lang="en-US" sz="2000" b="1" dirty="0"/>
              <a:t>Every 3 Months</a:t>
            </a:r>
            <a:r>
              <a:rPr lang="en-US" sz="2000" dirty="0"/>
              <a:t> frequency generate our highest total spending volume, with </a:t>
            </a:r>
            <a:r>
              <a:rPr lang="en-US" sz="2000" b="1" dirty="0"/>
              <a:t>Monthly</a:t>
            </a:r>
            <a:r>
              <a:rPr lang="en-US" sz="2000" dirty="0"/>
              <a:t> shoppers following as the second most active group.</a:t>
            </a:r>
            <a:br>
              <a:rPr lang="en-US" sz="2000" dirty="0"/>
            </a:br>
            <a:r>
              <a:rPr lang="en-US" sz="2000" dirty="0"/>
              <a:t> </a:t>
            </a:r>
            <a:br>
              <a:rPr lang="en-US" sz="2000" dirty="0"/>
            </a:br>
            <a:br>
              <a:rPr lang="en-US" sz="2000" dirty="0"/>
            </a:br>
            <a:r>
              <a:rPr lang="en-US" sz="2000" b="1" dirty="0"/>
              <a:t>Business Implication:</a:t>
            </a:r>
            <a:r>
              <a:rPr lang="en-US" sz="2000" dirty="0"/>
              <a:t> Designing promotions that incentivize casual three-month buyers to move into a predictable, monthly purchase cycle will dramatically improve monthly cash flow stability.</a:t>
            </a:r>
            <a:endParaRPr lang="en-IN" sz="2000" b="1" dirty="0"/>
          </a:p>
        </p:txBody>
      </p:sp>
    </p:spTree>
    <p:extLst>
      <p:ext uri="{BB962C8B-B14F-4D97-AF65-F5344CB8AC3E}">
        <p14:creationId xmlns:p14="http://schemas.microsoft.com/office/powerpoint/2010/main" val="20424598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263D8-A334-D25C-6AAB-F45E92B56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Core Insights Driving Retail Performance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7C669-0243-B7F8-A0F1-CC10445C9E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Top Sales Category:</a:t>
            </a:r>
            <a:r>
              <a:rPr lang="en-US" sz="2000" dirty="0"/>
              <a:t> Clothing consistently leads the company in overall sales volume and revenue generation.</a:t>
            </a:r>
          </a:p>
          <a:p>
            <a:r>
              <a:rPr lang="en-US" sz="2000" b="1" dirty="0"/>
              <a:t>Key Demographic Driver:</a:t>
            </a:r>
            <a:r>
              <a:rPr lang="en-US" sz="2000" dirty="0"/>
              <a:t> Young adults represent the primary demographic engine for overall sales growth.</a:t>
            </a:r>
          </a:p>
          <a:p>
            <a:r>
              <a:rPr lang="en-US" sz="2000" b="1" dirty="0"/>
              <a:t>Predictable Basket Size:</a:t>
            </a:r>
            <a:r>
              <a:rPr lang="en-US" sz="2000" dirty="0"/>
              <a:t> The average transaction amount remains steady at approximately </a:t>
            </a:r>
            <a:r>
              <a:rPr lang="en-US" sz="2000" b="1" dirty="0"/>
              <a:t>$59.76</a:t>
            </a:r>
            <a:r>
              <a:rPr lang="en-US" sz="2000" dirty="0"/>
              <a:t>.</a:t>
            </a:r>
          </a:p>
          <a:p>
            <a:r>
              <a:rPr lang="en-US" sz="2000" b="1" dirty="0"/>
              <a:t>Stable Customer Satisfaction:</a:t>
            </a:r>
            <a:r>
              <a:rPr lang="en-US" sz="2000" dirty="0"/>
              <a:t> Brand quality scores hold at an average </a:t>
            </a:r>
            <a:r>
              <a:rPr lang="en-US" sz="2000" b="1" dirty="0"/>
              <a:t>3.75 out of 5.00</a:t>
            </a:r>
            <a:r>
              <a:rPr lang="en-US" sz="2000" dirty="0"/>
              <a:t>, indicating steady customer satisfaction with clear room to grow. </a:t>
            </a:r>
          </a:p>
          <a:p>
            <a:r>
              <a:rPr lang="en-US" sz="2000" b="1" dirty="0"/>
              <a:t>Subscription Growth Opportunity:</a:t>
            </a:r>
            <a:r>
              <a:rPr lang="en-US" sz="2000" dirty="0"/>
              <a:t> Non-subscribers make up the vast majority of our buyers, meaning we must prioritize building a recurring subscriber base. 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789774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A89D51-26D0-B182-CD3A-594D7F19D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Strategic Plan: Maximizing Customer Value and Core Categories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E254F25-BB79-B9A6-6A5E-78337AA0AD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06267665"/>
              </p:ext>
            </p:extLst>
          </p:nvPr>
        </p:nvGraphicFramePr>
        <p:xfrm>
          <a:off x="550333" y="1938866"/>
          <a:ext cx="82296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6399507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3558308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84421404"/>
                    </a:ext>
                  </a:extLst>
                </a:gridCol>
              </a:tblGrid>
              <a:tr h="55880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Proposed Strategic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Supporting Data Evidence / Rationale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Corporate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967623"/>
                  </a:ext>
                </a:extLst>
              </a:tr>
              <a:tr h="1189567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Convert Casual Buyers to Subscribers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Non-subscribers dominate current sales volume</a:t>
                      </a:r>
                      <a:r>
                        <a:rPr lang="en-US" dirty="0"/>
                        <a:t>, while </a:t>
                      </a:r>
                      <a:r>
                        <a:rPr lang="en-US" b="1" dirty="0"/>
                        <a:t>repeat buyers purchase every 3 months</a:t>
                      </a:r>
                      <a:r>
                        <a:rPr lang="en-US" dirty="0"/>
                        <a:t>, creating a stable revenue base. Introduce </a:t>
                      </a:r>
                      <a:r>
                        <a:rPr lang="en-US" b="1" dirty="0"/>
                        <a:t>subscription incentives</a:t>
                      </a:r>
                      <a:r>
                        <a:rPr lang="en-US" dirty="0"/>
                        <a:t> to convert recurring customers into </a:t>
                      </a:r>
                      <a:r>
                        <a:rPr lang="en-US" b="1" dirty="0"/>
                        <a:t>predictable monthly subscribers</a:t>
                      </a:r>
                      <a:r>
                        <a:rPr lang="en-US" dirty="0"/>
                        <a:t>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🔴 </a:t>
                      </a:r>
                      <a:r>
                        <a:rPr lang="en-IN" b="1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78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914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2ACE7E-1C0C-DD22-35C6-FF5300A4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A41E0-EC6A-958A-95A3-E119392B7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Strategic Plan: Maximizing Customer Value and Core Categories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A2F21881-C6BE-4A95-C558-0B768B06877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0868716"/>
              </p:ext>
            </p:extLst>
          </p:nvPr>
        </p:nvGraphicFramePr>
        <p:xfrm>
          <a:off x="550333" y="1938866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6399507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3558308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84421404"/>
                    </a:ext>
                  </a:extLst>
                </a:gridCol>
              </a:tblGrid>
              <a:tr h="55880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Proposed Strategic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Supporting Data Evidence / Rationale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Corporate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967623"/>
                  </a:ext>
                </a:extLst>
              </a:tr>
              <a:tr h="1189567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Align Inventory &amp; Marketing Spend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Clothing</a:t>
                      </a:r>
                      <a:r>
                        <a:rPr lang="en-US" dirty="0"/>
                        <a:t> and </a:t>
                      </a:r>
                      <a:r>
                        <a:rPr lang="en-US" b="1" dirty="0"/>
                        <a:t>Accessories</a:t>
                      </a:r>
                      <a:r>
                        <a:rPr lang="en-US" dirty="0"/>
                        <a:t> are the strongest-performing categories. </a:t>
                      </a:r>
                      <a:r>
                        <a:rPr lang="en-US" b="1" dirty="0"/>
                        <a:t>Young Adults</a:t>
                      </a:r>
                      <a:r>
                        <a:rPr lang="en-US" dirty="0"/>
                        <a:t> represent the </a:t>
                      </a:r>
                      <a:r>
                        <a:rPr lang="en-US" b="1" dirty="0"/>
                        <a:t>highest-spending customer segment</a:t>
                      </a:r>
                      <a:r>
                        <a:rPr lang="en-US" dirty="0"/>
                        <a:t>. Focus inventory planning and marketing campaigns on these high-value areas.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🔴 </a:t>
                      </a:r>
                      <a:r>
                        <a:rPr lang="en-IN" b="1" dirty="0"/>
                        <a:t>HIGH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78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487270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3C0C-4D3D-6574-2D78-15EA91BC9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B061D-AAF2-B9DB-671B-45B188E10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Strategic Plan: Maximizing Customer Value and Core Categories</a:t>
            </a:r>
            <a:endParaRPr lang="en-IN" dirty="0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DBF0F29B-EBFC-B5BA-C587-EFA7255787E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5652561"/>
              </p:ext>
            </p:extLst>
          </p:nvPr>
        </p:nvGraphicFramePr>
        <p:xfrm>
          <a:off x="550333" y="1938866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1639950777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35583086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084421404"/>
                    </a:ext>
                  </a:extLst>
                </a:gridCol>
              </a:tblGrid>
              <a:tr h="558801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Proposed Strategic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Supporting Data Evidence / Rationale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Corporate Priority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9967623"/>
                  </a:ext>
                </a:extLst>
              </a:tr>
              <a:tr h="1189567"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Optimize Premium Shipping Promotions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Customers selecting </a:t>
                      </a:r>
                      <a:r>
                        <a:rPr lang="en-US" b="1" dirty="0"/>
                        <a:t>Express/Next-Day shipping</a:t>
                      </a:r>
                      <a:r>
                        <a:rPr lang="en-US" dirty="0"/>
                        <a:t> tend to have </a:t>
                      </a:r>
                      <a:r>
                        <a:rPr lang="en-US" b="1" dirty="0"/>
                        <a:t>larger basket sizes</a:t>
                      </a:r>
                      <a:r>
                        <a:rPr lang="en-US" dirty="0"/>
                        <a:t>. Implement </a:t>
                      </a:r>
                      <a:r>
                        <a:rPr lang="en-US" b="1" dirty="0"/>
                        <a:t>free-shipping thresholds</a:t>
                      </a:r>
                      <a:r>
                        <a:rPr lang="en-US" dirty="0"/>
                        <a:t> to encourage higher order values and increase average transaction size.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🟡 </a:t>
                      </a:r>
                      <a:r>
                        <a:rPr lang="en-IN" b="1" dirty="0"/>
                        <a:t>MEDIUM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978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54358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BA906-FE92-AA59-5E07-FDAB512A4C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2067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IN" sz="4600" dirty="0"/>
          </a:p>
          <a:p>
            <a:pPr marL="0" indent="0" algn="ctr">
              <a:buNone/>
            </a:pPr>
            <a:endParaRPr lang="en-IN" sz="4600" dirty="0"/>
          </a:p>
          <a:p>
            <a:pPr marL="0" indent="0" algn="ctr">
              <a:buNone/>
            </a:pPr>
            <a:r>
              <a:rPr lang="en-IN" sz="46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874076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1190</TotalTime>
  <Words>1617</Words>
  <Application>Microsoft Office PowerPoint</Application>
  <PresentationFormat>On-screen Show (4:3)</PresentationFormat>
  <Paragraphs>140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Google Sans</vt:lpstr>
      <vt:lpstr>Google Sans Text</vt:lpstr>
      <vt:lpstr>Office Theme</vt:lpstr>
      <vt:lpstr>Data Analysis Internship Project Report</vt:lpstr>
      <vt:lpstr>Core Challenge:</vt:lpstr>
      <vt:lpstr>Primary Project Objectives: </vt:lpstr>
      <vt:lpstr>Strategic Component Rationalization</vt:lpstr>
      <vt:lpstr>Tier 1: Data Engine</vt:lpstr>
      <vt:lpstr>Tier 1: Data Engine</vt:lpstr>
      <vt:lpstr>Production Code Snippet:</vt:lpstr>
      <vt:lpstr>Production Code Snippet: (continue..)</vt:lpstr>
      <vt:lpstr>Production Code Snippet: (continue..)</vt:lpstr>
      <vt:lpstr>Production Code Snippet: (continue..)</vt:lpstr>
      <vt:lpstr>Production Code Snippet: (continue..)</vt:lpstr>
      <vt:lpstr>Production Code Snippet: (continue..)</vt:lpstr>
      <vt:lpstr>Tier 2: Storage (Relational Query Execution (SQL))</vt:lpstr>
      <vt:lpstr>Tier 2: Storage (Relational Query Execution (SQL))</vt:lpstr>
      <vt:lpstr>SQL Code Snippet: (continue)</vt:lpstr>
      <vt:lpstr>SQL Code Snippet: (continue)</vt:lpstr>
      <vt:lpstr>SQL Code Snippet: (continue)</vt:lpstr>
      <vt:lpstr>Tier 3: Power BI Desktop</vt:lpstr>
      <vt:lpstr>Visualization using Seaborn </vt:lpstr>
      <vt:lpstr>Ex. Of Boxplot,Histplot, Pairplot, Heatmap</vt:lpstr>
      <vt:lpstr>Ex. Of Hisplot, Pairplot, Heatmap</vt:lpstr>
      <vt:lpstr>PowerPoint Presentation</vt:lpstr>
      <vt:lpstr>PowerPoint Presentation</vt:lpstr>
      <vt:lpstr>Analytical Findings: Categories &amp; Demographics</vt:lpstr>
      <vt:lpstr>Analytical Findings: Categories &amp; Demographics (continue..)</vt:lpstr>
      <vt:lpstr>Analytical Findings: Subscriptions &amp; Logistics</vt:lpstr>
      <vt:lpstr>Analytical Findings: Subscriptions &amp; Logistics</vt:lpstr>
      <vt:lpstr>Analytical Findings: Subscriptions &amp; Logistics (continue..)</vt:lpstr>
      <vt:lpstr>Core Insights Driving Retail Performance</vt:lpstr>
      <vt:lpstr>Strategic Plan: Maximizing Customer Value and Core Categories</vt:lpstr>
      <vt:lpstr>Strategic Plan: Maximizing Customer Value and Core Categories</vt:lpstr>
      <vt:lpstr>Strategic Plan: Maximizing Customer Value and Core Categories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GAVIC BIKKU GEORGE</cp:lastModifiedBy>
  <cp:revision>13</cp:revision>
  <dcterms:created xsi:type="dcterms:W3CDTF">2013-01-27T09:14:16Z</dcterms:created>
  <dcterms:modified xsi:type="dcterms:W3CDTF">2026-06-11T09:31:19Z</dcterms:modified>
  <cp:category/>
</cp:coreProperties>
</file>